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Agentic AI-Powered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Database Migration Platform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7EA"/>
                </a:solidFill>
              </a:rPr>
              <a:t>Any-to-any migration across Oracle, MySQL and PostgreSQL using LangGraph, AWS Bedrock and pluggable tool adapters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A89E"/>
                </a:solidFill>
              </a:rPr>
              <a:t>Capstone Project  |  Rupak Banerjee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Business need and manual labour replaced (₹)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2194560"/>
                <a:gridCol w="219456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Per mid-size migration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Conservative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Optimistic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 effort (person-days)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90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140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Manual cost @ ₹10,000/day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₹9.0 lakh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₹14.0 lakh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Share automated by agents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55%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75%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Labour replaced (₹)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₹4.95 lakh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₹10.5 lakh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Platform run cost (Bedrock + infra, est.)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₹15,000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₹10,000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Net saving per migration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≈ ₹4.8 lakh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≈ ₹10.4 lakh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Residual human effort (review, approvals)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≈ 41 days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≈ 35 days</a:t>
                      </a:r>
                      <a:endParaRPr lang="en-US" sz="11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7490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Why it is needed: DBA-led migrations are slow and error-prone across discovery, SQL/PLSQL conversion, data load and validation. The platform automates these steps and keeps humans at approval gates.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Assumptions (illustrative, replace with measured data): ~300 tables + ~150 procedures/views/triggers; blended rate ₹10,000 per person-day.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High-level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 UI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51760" y="868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FastAPI Gateway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Auth + SSE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120640" y="868680"/>
            <a:ext cx="2011680" cy="731520"/>
          </a:xfrm>
          <a:prstGeom prst="roundRect">
            <a:avLst>
              <a:gd name="adj" fmla="val 125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LangGraph Runtime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HITL interrupts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452360" y="868680"/>
            <a:ext cx="1325880" cy="731520"/>
          </a:xfrm>
          <a:prstGeom prst="roundRect">
            <a:avLst>
              <a:gd name="adj" fmla="val 12500"/>
            </a:avLst>
          </a:prstGeom>
          <a:solidFill>
            <a:srgbClr val="E3ECF3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Postgres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checkpoints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+ metadata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783080"/>
            <a:ext cx="8412480" cy="274320"/>
          </a:xfrm>
          <a:prstGeom prst="rect">
            <a:avLst>
              <a:gd name="adj" fmla="val 33333"/>
            </a:avLst>
          </a:prstGeom>
          <a:solidFill>
            <a:srgbClr val="E3ECF3"/>
          </a:solidFill>
          <a:ln w="19050">
            <a:solidFill>
              <a:srgbClr val="E3ECF3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6B7B"/>
                </a:solidFill>
              </a:rPr>
              <a:t>▼  LangGraph routes shared state to each agent  ▼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411480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E3ECF3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Source DB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926080" y="4114800"/>
            <a:ext cx="2377440" cy="594360"/>
          </a:xfrm>
          <a:prstGeom prst="roundRect">
            <a:avLst>
              <a:gd name="adj" fmla="val 15385"/>
            </a:avLst>
          </a:prstGeom>
          <a:solidFill>
            <a:srgbClr val="E3ECF3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Target DB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0" y="4114800"/>
            <a:ext cx="1737360" cy="594360"/>
          </a:xfrm>
          <a:prstGeom prst="roundRect">
            <a:avLst>
              <a:gd name="adj" fmla="val 15385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EKS / AWS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(Terraform)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406640" y="4114800"/>
            <a:ext cx="1371600" cy="594360"/>
          </a:xfrm>
          <a:prstGeom prst="roundRect">
            <a:avLst>
              <a:gd name="adj" fmla="val 15385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LangSmith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Grafana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Assessment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 Extractor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81912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1912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Bedrock + PGVector KB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98064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98064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CrackSQL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014216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014216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Apache SeaTunnel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30368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Code (future)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230368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OpenRewrite + Aider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46520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 + Test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46520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Checksum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62672" y="224028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662672" y="3200400"/>
            <a:ext cx="109728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kubectl + Terraform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194560" y="1234440"/>
            <a:ext cx="45720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1234440"/>
            <a:ext cx="45720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132320" y="1234440"/>
            <a:ext cx="3200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" y="3886200"/>
            <a:ext cx="0" cy="1143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14400" y="4000500"/>
            <a:ext cx="6400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554480" y="4000500"/>
            <a:ext cx="0" cy="1143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4562856" y="3886200"/>
            <a:ext cx="0" cy="1143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>
            <a:off x="4114800" y="4000500"/>
            <a:ext cx="448056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114800" y="4000500"/>
            <a:ext cx="0" cy="1143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8211312" y="3886200"/>
            <a:ext cx="0" cy="1143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H="1">
            <a:off x="6355080" y="4000500"/>
            <a:ext cx="1856232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355080" y="4000500"/>
            <a:ext cx="0" cy="1143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914400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2130552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346704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4562856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5779008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6995160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211312" y="292608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6" name="Text 44"/>
          <p:cNvSpPr txBox="1"/>
          <p:nvPr/>
        </p:nvSpPr>
        <p:spPr>
          <a:xfrm>
            <a:off x="457200" y="4754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</a:rPr>
              <a:t>Streamlit and FastAPI start jobs; LangGraph orchestrates agents; each agent calls its tool adapter; Bedrock (Nova Pro + Titan) and the PGVector knowledge base support reasoning.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Orchestration: LangGraph state machine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Discover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960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86200" y="960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960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HumanReviewPlan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(interrupt)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52360" y="96012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(CrackSQL)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52360" y="22860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22860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CodeRefactor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(future no-op)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22860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DataMigrate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(SeaTunnel)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2860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(checksum)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28600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HumanReview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Validation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361188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03120" y="361188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HumanReview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Cutover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886200" y="3611880"/>
            <a:ext cx="1371600" cy="685800"/>
          </a:xfrm>
          <a:prstGeom prst="roundRect">
            <a:avLst>
              <a:gd name="adj" fmla="val 13333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Cutover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(kubectl)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3611880"/>
            <a:ext cx="1371600" cy="685800"/>
          </a:xfrm>
          <a:prstGeom prst="diamond">
            <a:avLst>
              <a:gd name="adj" fmla="val 13333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Verify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52360" y="3246120"/>
            <a:ext cx="1371600" cy="457200"/>
          </a:xfrm>
          <a:prstGeom prst="ellipse">
            <a:avLst>
              <a:gd name="adj" fmla="val 20000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Done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452360" y="38862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C0392B"/>
          </a:solidFill>
          <a:ln w="19050">
            <a:solidFill>
              <a:srgbClr val="C039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Rollback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rollout undo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691640" y="13030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3474720" y="13030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257800" y="13030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040880" y="13030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015734" y="1202436"/>
            <a:ext cx="46177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Approve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8138160" y="1645920"/>
            <a:ext cx="0" cy="6400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 flipH="1">
            <a:off x="7040880" y="26289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257800" y="26289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H="1">
            <a:off x="3474720" y="26289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>
            <a:off x="1691640" y="26289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" y="2971800"/>
            <a:ext cx="0" cy="6400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74954" y="3191256"/>
            <a:ext cx="46177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Approve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691640" y="39547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3" name="Text 31"/>
          <p:cNvSpPr txBox="1"/>
          <p:nvPr/>
        </p:nvSpPr>
        <p:spPr>
          <a:xfrm>
            <a:off x="1741932" y="3854196"/>
            <a:ext cx="3108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PASS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3474720" y="39547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3449574" y="3854196"/>
            <a:ext cx="46177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Approve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5257800" y="39547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040880" y="3954780"/>
            <a:ext cx="2057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flipV="1">
            <a:off x="7246620" y="3474720"/>
            <a:ext cx="0" cy="4800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246620" y="3474720"/>
            <a:ext cx="2057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038594" y="3854196"/>
            <a:ext cx="21031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ok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040880" y="3954780"/>
            <a:ext cx="2057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46620" y="3954780"/>
            <a:ext cx="0" cy="2057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246620" y="4160520"/>
            <a:ext cx="2057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44" name="Text 42"/>
          <p:cNvSpPr txBox="1"/>
          <p:nvPr/>
        </p:nvSpPr>
        <p:spPr>
          <a:xfrm>
            <a:off x="6988302" y="3854196"/>
            <a:ext cx="3108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fail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457200" y="4389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</a:rPr>
              <a:t>Flow: Discover → Analyse → Plan → Transform → Generate → CodeRefactor → DataMigrate → Validate → Test → Cutover → Verify. Every HumanReview node is a real interrupt resumed from the Postgres checkpointer. Modify loops back to Plan, Reject aborts, Test FAIL returns to Validate, validation retry returns to DataMigrate.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Failure handling and retry policy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Agent calls LLM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Tool Adapter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51760" y="1600200"/>
            <a:ext cx="1737360" cy="1097280"/>
          </a:xfrm>
          <a:prstGeom prst="diamond">
            <a:avLst>
              <a:gd name="adj" fmla="val 8333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Success?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37760" y="1737360"/>
            <a:ext cx="1737360" cy="822960"/>
          </a:xfrm>
          <a:prstGeom prst="ellipse">
            <a:avLst>
              <a:gd name="adj" fmla="val 11111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Advance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next phase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3017520"/>
            <a:ext cx="1737360" cy="1097280"/>
          </a:xfrm>
          <a:prstGeom prst="diamond">
            <a:avLst>
              <a:gd name="adj" fmla="val 8333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attempt &lt; 3?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31546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retry_count + 1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exp. backoff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937760" y="31546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HumanReviewFailure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interrupt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086600" y="3017520"/>
            <a:ext cx="1691640" cy="1097280"/>
          </a:xfrm>
          <a:prstGeom prst="diamond">
            <a:avLst>
              <a:gd name="adj" fmla="val 8333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Reviewer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decision?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086600" y="1737360"/>
            <a:ext cx="169164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9050">
            <a:solidFill>
              <a:srgbClr val="C039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Job ABORTED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 logged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03120" y="214884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214884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Text 12"/>
          <p:cNvSpPr txBox="1"/>
          <p:nvPr/>
        </p:nvSpPr>
        <p:spPr>
          <a:xfrm>
            <a:off x="4533138" y="2048256"/>
            <a:ext cx="26060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Yes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520440" y="2697480"/>
            <a:ext cx="0" cy="3200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415284" y="2756916"/>
            <a:ext cx="21031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No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 flipH="1">
            <a:off x="2103120" y="356616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2247138" y="3465576"/>
            <a:ext cx="260604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Yes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 flipV="1">
            <a:off x="1234440" y="2560320"/>
            <a:ext cx="0" cy="5943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89120" y="356616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4558284" y="3465576"/>
            <a:ext cx="21031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No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 flipV="1">
            <a:off x="6675120" y="356616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 flipV="1">
            <a:off x="7932420" y="2560320"/>
            <a:ext cx="0" cy="45720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7751826" y="2688336"/>
            <a:ext cx="36118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Abort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</a:rPr>
              <a:t>Applies to every LLM call and tool call. After 3 failed automatic attempts the reviewer sees the error and can Retry (retry_count reset to 0, same phase re-run) or Abort. retry_count is checkpointed, so a restart does not reset it.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Human-in-the-loop approval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97280"/>
            <a:ext cx="1737360" cy="822960"/>
          </a:xfrm>
          <a:prstGeom prst="ellipse">
            <a:avLst>
              <a:gd name="adj" fmla="val 11111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Migration plan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60320" y="1005840"/>
            <a:ext cx="2743200" cy="1005840"/>
          </a:xfrm>
          <a:prstGeom prst="roundRect">
            <a:avLst>
              <a:gd name="adj" fmla="val 9091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Summary: Tables 125 · Views 42 · Procs 86 · Funcs 53 · Triggers 31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Auto 278 · Review 59 · High-risk 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60720" y="109728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Streamlit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review screen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94960" y="2240280"/>
            <a:ext cx="2103120" cy="1097280"/>
          </a:xfrm>
          <a:prstGeom prst="diamond">
            <a:avLst>
              <a:gd name="adj" fmla="val 8333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Reviewer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decision?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0" y="2377440"/>
            <a:ext cx="201168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LangGraph resumes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Transform phase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63840" y="2377440"/>
            <a:ext cx="914400" cy="822960"/>
          </a:xfrm>
          <a:prstGeom prst="roundRect">
            <a:avLst>
              <a:gd name="adj" fmla="val 11111"/>
            </a:avLst>
          </a:prstGeom>
          <a:solidFill>
            <a:srgbClr val="C0392B"/>
          </a:solidFill>
          <a:ln w="19050">
            <a:solidFill>
              <a:srgbClr val="C039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Job ABORTED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audit logged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94960" y="3749040"/>
            <a:ext cx="2103120" cy="640080"/>
          </a:xfrm>
          <a:prstGeom prst="roundRect">
            <a:avLst>
              <a:gd name="adj" fmla="val 14286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Planner regenerates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 section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0" y="3749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Post-validation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gate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749040"/>
            <a:ext cx="2011680" cy="640080"/>
          </a:xfrm>
          <a:prstGeom prst="roundRect">
            <a:avLst>
              <a:gd name="adj" fmla="val 14286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Pre-cutover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gate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03120" y="1508760"/>
            <a:ext cx="45720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V="1">
            <a:off x="5303520" y="1508760"/>
            <a:ext cx="45720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29400" y="1920240"/>
            <a:ext cx="0" cy="1600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>
            <a:off x="6446520" y="2080260"/>
            <a:ext cx="1828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46520" y="2080260"/>
            <a:ext cx="0" cy="1600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4754880" y="2788920"/>
            <a:ext cx="6400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844034" y="2688336"/>
            <a:ext cx="461772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Approve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498080" y="2788920"/>
            <a:ext cx="36576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7475220" y="2688336"/>
            <a:ext cx="411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Reject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6446520" y="3337560"/>
            <a:ext cx="0" cy="4114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6240780" y="3442716"/>
            <a:ext cx="411480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Modify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749040" y="3200400"/>
            <a:ext cx="0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 flipH="1">
            <a:off x="2377440" y="4069080"/>
            <a:ext cx="36576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4480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</a:rPr>
              <a:t>Each gate stores an ApprovalRecord (reviewer, decision, timestamp, comment) in the metadata DB for a full audit trail. Modify regenerates the plan section and returns to the summary.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Planner Agent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Object catalog + FK dependency graph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91840" y="1005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Deterministic risk scoring (risk.py)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263640" y="10058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RAG: retrieve rules from PGVector KB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63640" y="24688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Bedrock Nova Pro refines medium/high-risk objects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91840" y="24688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Plan: sequence, priority, effort, manual-review flags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246888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HumanReviewPlan interrupt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88036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5216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3800" y="1920240"/>
            <a:ext cx="0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 flipH="1">
            <a:off x="585216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 flipH="1">
            <a:off x="288036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What happens: heuristics first score every object cheaply; only medium and high-risk objects go to the LLM, which keeps cost low. Retrieved migration rules ground the plan. The plan is never executed until a person approves 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Assessment Agent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1817370" cy="914400"/>
          </a:xfrm>
          <a:prstGeom prst="ellipse">
            <a:avLst>
              <a:gd name="adj" fmla="val 10000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start(job_id, dialect pair)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889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Assessment Agent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7774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Schema Extractor Adapter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0659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Native DDL export on Source DB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pg_dump · DBMS_METADATA · mysqldump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0659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raw schema.sql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7774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sqlglot parse → object catalog + FK graph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889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Titan embeddings → PGVector KB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817370" cy="914400"/>
          </a:xfrm>
          <a:prstGeom prst="ellipse">
            <a:avLst>
              <a:gd name="adj" fmla="val 10000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DiscoveryResult → Orchestrator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741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6626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9511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15275" y="1920240"/>
            <a:ext cx="0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59511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436626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13741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What happens: the adapter exports native DDL from the source, sqlglot parses it into a catalog of tables, views, procedures, functions and triggers plus a foreign-key dependency graph. Discovery embeddings are stored so later agents can retrieve context. Works for Oracle, MySQL and PostgreSQL.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Schema Agent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1817370" cy="914400"/>
          </a:xfrm>
          <a:prstGeom prst="ellipse">
            <a:avLst>
              <a:gd name="adj" fmla="val 10000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translate(discovery, plan)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889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Retrieve type-mapping and conversion rules (RAG)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7774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CrackSQL run(ddl, rules)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0659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AST-based deterministic translation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0659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Ambiguous constructs → Bedrock Nova Pro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7774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TranslationResult + confidence scores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8890" y="2468880"/>
            <a:ext cx="1817370" cy="914400"/>
          </a:xfrm>
          <a:prstGeom prst="diamond">
            <a:avLst>
              <a:gd name="adj" fmla="val 10000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Confidence OK?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Apply idempotently to Target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741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6626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9511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15275" y="1920240"/>
            <a:ext cx="0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59511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436626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13741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2187702" y="2825496"/>
            <a:ext cx="3108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high</a:t>
            </a:r>
            <a:endParaRPr lang="en-US" sz="75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What happens: CrackSQL translates deterministically from the AST first, and only ambiguous constructs go to the LLM. Every object gets a confidence score; low-confidence output is flagged for review and never auto-applied. Table DDL is created by the SeaTunnel sink, so this agent handles views, procedures, functions, triggers and foreign keys.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Data Agent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1817370" cy="914400"/>
          </a:xfrm>
          <a:prstGeom prst="ellipse">
            <a:avLst>
              <a:gd name="adj" fmla="val 10000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migrate_data(plan, schema)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889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Generate SeaTunnel job config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7774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Order tables by FK dependency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06590" y="100584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SeaTunnel Zeta bulk extract from 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0659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JDBC sink auto-creates tables + bulk load to Target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7774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DataMigrationResult: rows moved, throughput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889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CDC stream from Source (future)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468880"/>
            <a:ext cx="181737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Apply CDC to Target (future)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741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6626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59511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7915275" y="1920240"/>
            <a:ext cx="0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 flipH="1">
            <a:off x="659511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436626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213741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What happens: the agent builds a SeaTunnel job and loads tables in foreign-key order; re-runs are idempotent (DROP_DATA). Jobs run inside the SeaTunnel container. Streaming CDC after the initial load (Debezium/Kafka) is designed but not yet built.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Code Agent flow (Phase 6, future extension)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188720"/>
            <a:ext cx="1828800" cy="822960"/>
          </a:xfrm>
          <a:prstGeom prst="ellipse">
            <a:avLst>
              <a:gd name="adj" fmla="val 11111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refactor(dialect, stack)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0" y="1188720"/>
            <a:ext cx="1737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Code Agent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097280"/>
            <a:ext cx="1737360" cy="1005840"/>
          </a:xfrm>
          <a:prstGeom prst="diamond">
            <a:avLst>
              <a:gd name="adj" fmla="val 9091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App stack?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94560" y="2651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OpenRewrite recipe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ORM + JDBC swap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(Java / Spring)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94960" y="2651760"/>
            <a:ext cx="2743200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Aider LLM edits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raw SQL / SQLAlchemy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(C++ / Python)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017520" y="3794760"/>
            <a:ext cx="310896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code_refactor: diff + files changed → human gate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94560" y="160020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480560" y="1600200"/>
            <a:ext cx="5486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897880" y="210312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H="1">
            <a:off x="3566160" y="2377440"/>
            <a:ext cx="233172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237744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Text 13"/>
          <p:cNvSpPr txBox="1"/>
          <p:nvPr/>
        </p:nvSpPr>
        <p:spPr>
          <a:xfrm>
            <a:off x="5742432" y="2139696"/>
            <a:ext cx="3108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Java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897880" y="210312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97880" y="2377440"/>
            <a:ext cx="8686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0" y="2377440"/>
            <a:ext cx="0" cy="27432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5591556" y="2139696"/>
            <a:ext cx="612648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Python/C++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3566160" y="3520440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66160" y="3657600"/>
            <a:ext cx="100584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3657600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766560" y="3520440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H="1">
            <a:off x="4572000" y="3657600"/>
            <a:ext cx="219456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3657600"/>
            <a:ext cx="0" cy="1371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6" name="Text 24"/>
          <p:cNvSpPr txBox="1"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7B"/>
                </a:solidFill>
              </a:rPr>
              <a:t>Status: intentionally deferred. Today the CodeRefactor graph node is a no-op passthrough and the OpenRewrite and Aider adapters are empty stubs. When built, OpenRewrite handles AST-safe rewrites and Aider handles LLM-guided edits.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Validation and Test flow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1371600" cy="914400"/>
          </a:xfrm>
          <a:prstGeom prst="ellipse">
            <a:avLst>
              <a:gd name="adj" fmla="val 10000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validate(job_id)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 Agent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103120" y="1005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Checksum Adapter batch config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886200" y="1005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 table: fetch Source + Target rows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669280" y="1005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Hash (Pandas/PySpark) and compare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452360" y="100584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ValidationReport per table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452360" y="24688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E8A33D"/>
          </a:solidFill>
          <a:ln w="19050">
            <a:solidFill>
              <a:srgbClr val="E8A33D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HumanReview Validation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669280" y="24688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Test: schema compat + missing objects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886200" y="24688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Referential integrity (FK orphans)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103120" y="2468880"/>
            <a:ext cx="1371600" cy="914400"/>
          </a:xfrm>
          <a:prstGeom prst="roundRect">
            <a:avLst>
              <a:gd name="adj" fmla="val 10000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Performance smoke: COUNT(*) under 5s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" y="2468880"/>
            <a:ext cx="1371600" cy="914400"/>
          </a:xfrm>
          <a:prstGeom prst="diamond">
            <a:avLst>
              <a:gd name="adj" fmla="val 10000"/>
            </a:avLst>
          </a:prstGeom>
          <a:solidFill>
            <a:srgbClr val="E3ECF3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Test PASS?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69164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47472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5780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146304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138160" y="1920240"/>
            <a:ext cx="0" cy="54864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704088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 flipH="1">
            <a:off x="525780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flipH="1">
            <a:off x="347472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flipH="1">
            <a:off x="1691640" y="292608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36118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B6B7B"/>
                </a:solidFill>
              </a:rPr>
              <a:t>What happens: row counts and hashes are compared table by table, then a person reviews the report. The Test node adds four checks. PASS leads to the pre-cutover gate; FAIL returns to Validate; a validation failure sends the job back to DataMigrate.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Deployment Agent flow (built, not yet production-validated)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 Infrastructure validation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548890" y="96012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 Capture current state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77740" y="96012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 Rolling update: new DB driver / endpoint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06590" y="96012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 Rollout completion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006590" y="237744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2E6F95"/>
          </a:solidFill>
          <a:ln w="19050">
            <a:solidFill>
              <a:srgbClr val="2E6F9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 Pod readiness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777740" y="237744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6 DB health check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48890" y="2377440"/>
            <a:ext cx="1817370" cy="822960"/>
          </a:xfrm>
          <a:prstGeom prst="roundRect">
            <a:avLst>
              <a:gd name="adj" fmla="val 11111"/>
            </a:avLst>
          </a:prstGeom>
          <a:solidFill>
            <a:srgbClr val="13A89E"/>
          </a:solidFill>
          <a:ln w="19050">
            <a:solidFill>
              <a:srgbClr val="13A89E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7 Traffic verification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2377440"/>
            <a:ext cx="1817370" cy="822960"/>
          </a:xfrm>
          <a:prstGeom prst="ellipse">
            <a:avLst>
              <a:gd name="adj" fmla="val 11111"/>
            </a:avLst>
          </a:prstGeom>
          <a:solidFill>
            <a:srgbClr val="0B2545"/>
          </a:solidFill>
          <a:ln w="19050">
            <a:solidFill>
              <a:srgbClr val="0B2545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SUCCESS: legacy pods terminated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0" y="3566160"/>
            <a:ext cx="5120640" cy="594360"/>
          </a:xfrm>
          <a:prstGeom prst="roundRect">
            <a:avLst>
              <a:gd name="adj" fmla="val 15385"/>
            </a:avLst>
          </a:prstGeom>
          <a:solidFill>
            <a:srgbClr val="C0392B"/>
          </a:solidFill>
          <a:ln w="19050">
            <a:solidFill>
              <a:srgbClr val="C0392B"/>
            </a:solidFill>
            <a:prstDash val="solid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Any step fails or post-cutover connection errors → kubectl rollout undo → ROLLED_BACK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37410" y="13716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66260" y="13716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95110" y="137160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915275" y="1783080"/>
            <a:ext cx="0" cy="59436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 flipH="1">
            <a:off x="6595110" y="27889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 flipH="1">
            <a:off x="4366260" y="27889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H="1">
            <a:off x="2137410" y="2788920"/>
            <a:ext cx="411480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6425" y="320040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>
            <a:off x="4389120" y="3383280"/>
            <a:ext cx="1297305" cy="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89120" y="3383280"/>
            <a:ext cx="0" cy="182880"/>
          </a:xfrm>
          <a:prstGeom prst="line">
            <a:avLst/>
          </a:prstGeom>
          <a:noFill/>
          <a:ln w="19050">
            <a:solidFill>
              <a:srgbClr val="5B6B7B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5530977" y="3191256"/>
            <a:ext cx="310896" cy="20116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2545"/>
                </a:solidFill>
              </a:rPr>
              <a:t>fail</a:t>
            </a:r>
            <a:endParaRPr lang="en-US" sz="750" dirty="0"/>
          </a:p>
        </p:txBody>
      </p:sp>
      <p:sp>
        <p:nvSpPr>
          <p:cNvPr id="24" name="Text 22"/>
          <p:cNvSpPr txBox="1"/>
          <p:nvPr/>
        </p:nvSpPr>
        <p:spPr>
          <a:xfrm>
            <a:off x="457200" y="42976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7B"/>
                </a:solidFill>
              </a:rPr>
              <a:t>What happens: seven safe-cutover steps run through the kubectl adapter; Terraform provisions VPC, EKS, RDS and IAM. Any failed step, or connection errors after cutover, triggers automatic kubectl rollout undo back to the legacy pods.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Docker images and local infrastructure</a:t>
            </a:r>
            <a:endParaRPr lang="en-US" sz="2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Service (docker-compose)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Endpoint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postgres-metadata (PostgreSQL)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Job metadata, checkpoints, PGVector KB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localhost:5432 / migration_metadata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postgres-sample (PostgreSQL)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Sample source/target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localhost:5433 / sample_source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mysql-sample (MySQL)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Sample source/target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localhost:3306 / sample_source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oracle-sample (Oracle XE)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Sample source/target (first boot 5-10 min)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localhost:1521 / XE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seatunnel (custom build)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Bulk-load engine with JDBC driver jars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infra/docker/seatunnel/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pgAdmin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Browse the PostgreSQL instances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localhost:5050</a:t>
                      </a:r>
                      <a:endParaRPr lang="en-US" sz="1000" dirty="0"/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8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38404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B6B7B"/>
                </a:solidFill>
              </a:rPr>
              <a:t>Exact image tags live in docker-compose.yml. Run: docker-compose up -d; docker compose build seatunnel. Production uses Terraform (VPC/EKS/RDS/IAM) and Helm.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069848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005840" y="914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Docker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60320" y="914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048" y="1069848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3108960" y="914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63440" y="914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1069848"/>
            <a:ext cx="365760" cy="3657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212080" y="91440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MySQL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766560" y="914400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6858000" y="9144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Oracle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457200" y="171907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187452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05840" y="1719072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Python 3.12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2560320" y="171907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1874520"/>
            <a:ext cx="365760" cy="365760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3108960" y="1719072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FastAPI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663440" y="171907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3168" y="1874520"/>
            <a:ext cx="365760" cy="365760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5212080" y="1719072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Streamlit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6766560" y="1719072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187452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7315200" y="1719072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LangChain / LangGraph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457200" y="252374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28" name="Text 19"/>
          <p:cNvSpPr txBox="1"/>
          <p:nvPr/>
        </p:nvSpPr>
        <p:spPr>
          <a:xfrm>
            <a:off x="548640" y="2523744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AWS</a:t>
            </a:r>
            <a:endParaRPr lang="en-US" sz="1000" dirty="0"/>
          </a:p>
        </p:txBody>
      </p:sp>
      <p:sp>
        <p:nvSpPr>
          <p:cNvPr id="29" name="Shape 20"/>
          <p:cNvSpPr/>
          <p:nvPr/>
        </p:nvSpPr>
        <p:spPr>
          <a:xfrm>
            <a:off x="2560320" y="252374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70048" y="2679192"/>
            <a:ext cx="365760" cy="365760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3108960" y="2523744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Terraform</a:t>
            </a:r>
            <a:endParaRPr lang="en-US" sz="1000" dirty="0"/>
          </a:p>
        </p:txBody>
      </p:sp>
      <p:sp>
        <p:nvSpPr>
          <p:cNvPr id="32" name="Shape 22"/>
          <p:cNvSpPr/>
          <p:nvPr/>
        </p:nvSpPr>
        <p:spPr>
          <a:xfrm>
            <a:off x="4663440" y="252374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73168" y="2679192"/>
            <a:ext cx="365760" cy="365760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212080" y="2523744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Kubernetes</a:t>
            </a:r>
            <a:endParaRPr lang="en-US" sz="1000" dirty="0"/>
          </a:p>
        </p:txBody>
      </p:sp>
      <p:sp>
        <p:nvSpPr>
          <p:cNvPr id="35" name="Shape 24"/>
          <p:cNvSpPr/>
          <p:nvPr/>
        </p:nvSpPr>
        <p:spPr>
          <a:xfrm>
            <a:off x="6766560" y="2523744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76288" y="2679192"/>
            <a:ext cx="365760" cy="365760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315200" y="2523744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GitHub Actions</a:t>
            </a:r>
            <a:endParaRPr lang="en-US" sz="1000" dirty="0"/>
          </a:p>
        </p:txBody>
      </p:sp>
      <p:sp>
        <p:nvSpPr>
          <p:cNvPr id="38" name="Shape 26"/>
          <p:cNvSpPr/>
          <p:nvPr/>
        </p:nvSpPr>
        <p:spPr>
          <a:xfrm>
            <a:off x="457200" y="3328416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6928" y="3483864"/>
            <a:ext cx="365760" cy="365760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1005840" y="3328416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Prometheus</a:t>
            </a:r>
            <a:endParaRPr lang="en-US" sz="1000" dirty="0"/>
          </a:p>
        </p:txBody>
      </p:sp>
      <p:sp>
        <p:nvSpPr>
          <p:cNvPr id="41" name="Shape 28"/>
          <p:cNvSpPr/>
          <p:nvPr/>
        </p:nvSpPr>
        <p:spPr>
          <a:xfrm>
            <a:off x="2560320" y="3328416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4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70048" y="3483864"/>
            <a:ext cx="365760" cy="365760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3108960" y="3328416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Grafana</a:t>
            </a:r>
            <a:endParaRPr lang="en-US" sz="1000" dirty="0"/>
          </a:p>
        </p:txBody>
      </p:sp>
      <p:sp>
        <p:nvSpPr>
          <p:cNvPr id="44" name="Shape 30"/>
          <p:cNvSpPr/>
          <p:nvPr/>
        </p:nvSpPr>
        <p:spPr>
          <a:xfrm>
            <a:off x="4663440" y="3328416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pic>
        <p:nvPicPr>
          <p:cNvPr id="45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73168" y="3483864"/>
            <a:ext cx="365760" cy="365760"/>
          </a:xfrm>
          <a:prstGeom prst="rect">
            <a:avLst/>
          </a:prstGeom>
        </p:spPr>
      </p:pic>
      <p:sp>
        <p:nvSpPr>
          <p:cNvPr id="46" name="Text 31"/>
          <p:cNvSpPr txBox="1"/>
          <p:nvPr/>
        </p:nvSpPr>
        <p:spPr>
          <a:xfrm>
            <a:off x="5212080" y="3328416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Poetry</a:t>
            </a:r>
            <a:endParaRPr lang="en-US" sz="1000" dirty="0"/>
          </a:p>
        </p:txBody>
      </p:sp>
      <p:sp>
        <p:nvSpPr>
          <p:cNvPr id="47" name="Shape 32"/>
          <p:cNvSpPr/>
          <p:nvPr/>
        </p:nvSpPr>
        <p:spPr>
          <a:xfrm>
            <a:off x="6766560" y="3328416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48" name="Text 33"/>
          <p:cNvSpPr txBox="1"/>
          <p:nvPr/>
        </p:nvSpPr>
        <p:spPr>
          <a:xfrm>
            <a:off x="6858000" y="3328416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Bedrock Nova Pro</a:t>
            </a:r>
            <a:endParaRPr lang="en-US" sz="1000" dirty="0"/>
          </a:p>
        </p:txBody>
      </p:sp>
      <p:sp>
        <p:nvSpPr>
          <p:cNvPr id="49" name="Shape 34"/>
          <p:cNvSpPr/>
          <p:nvPr/>
        </p:nvSpPr>
        <p:spPr>
          <a:xfrm>
            <a:off x="457200" y="4133088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50" name="Text 35"/>
          <p:cNvSpPr txBox="1"/>
          <p:nvPr/>
        </p:nvSpPr>
        <p:spPr>
          <a:xfrm>
            <a:off x="548640" y="41330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Apache SeaTunnel</a:t>
            </a:r>
            <a:endParaRPr lang="en-US" sz="1000" dirty="0"/>
          </a:p>
        </p:txBody>
      </p:sp>
      <p:sp>
        <p:nvSpPr>
          <p:cNvPr id="51" name="Shape 36"/>
          <p:cNvSpPr/>
          <p:nvPr/>
        </p:nvSpPr>
        <p:spPr>
          <a:xfrm>
            <a:off x="2560320" y="4133088"/>
            <a:ext cx="1920240" cy="685800"/>
          </a:xfrm>
          <a:prstGeom prst="roundRect">
            <a:avLst>
              <a:gd name="adj" fmla="val 10667"/>
            </a:avLst>
          </a:prstGeom>
          <a:solidFill>
            <a:srgbClr val="EEF3F7"/>
          </a:solidFill>
          <a:ln w="9525">
            <a:solidFill>
              <a:srgbClr val="D0D8E0"/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2651760" y="4133088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B2545"/>
                </a:solidFill>
              </a:rPr>
              <a:t>CrackSQL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Future extensions and status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5875">
            <a:solidFill>
              <a:srgbClr val="E8A33D"/>
            </a:solidFill>
            <a:prstDash val="dash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Phase 6: Code Agent (future)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OpenRewrite rule-based refactoring + Aider LLM-guided edits to update application SQL/ORM code for the new dialect. Adapters and agent folder exist; implementation deferred. Diffs will pass a human gate.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754880" y="91440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E8A33D"/>
          </a:solidFill>
          <a:ln w="15875">
            <a:solidFill>
              <a:srgbClr val="E8A33D"/>
            </a:solidFill>
            <a:prstDash val="solid"/>
          </a:ln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Deployment (built, not production-validated)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2545"/>
                </a:solidFill>
              </a:rPr>
              <a:t>Terraform VPC/EKS/RDS/IAM, Helm charts, 7-step cutover, automatic rollback. Next: validate on a live AWS EKS environment.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B2545"/>
                </a:solidFill>
              </a:rPr>
              <a:t>Complete and live-verified: Phases 0-5 (foundations, orchestration, dialects, planner, schema, data). Also complete: Phase 7 validation/test, Phase 9 observability and CI/CD, Phase 10 E2E tests and docs.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AI Database Migration Platform</dc:title>
  <dc:subject>PptxGenJS Presentation</dc:subject>
  <dc:creator>PptxGenJS</dc:creator>
  <cp:lastModifiedBy>PptxGenJS</cp:lastModifiedBy>
  <cp:revision>1</cp:revision>
  <dcterms:created xsi:type="dcterms:W3CDTF">2026-10-05T09:06:30Z</dcterms:created>
  <dcterms:modified xsi:type="dcterms:W3CDTF">2026-10-05T09:06:30Z</dcterms:modified>
</cp:coreProperties>
</file>